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42318"/>
                </a:solidFill>
              </a:rPr>
              <a:t>COMPUTER NETWORKS PROJECT · ACADEMIC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1D1D1F"/>
                </a:solidFill>
              </a:rPr>
              <a:t>SHIELDSCAN</a:t>
            </a:r>
          </a:p>
          <a:p>
            <a:r>
              <a:rPr sz="2200">
                <a:solidFill>
                  <a:srgbClr val="6E6E73"/>
                </a:solidFill>
              </a:rPr>
              <a:t>Modern Network Visibility &amp; Security Assessment Platform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840480"/>
            <a:ext cx="98755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D1D1F"/>
                </a:solidFill>
              </a:defRPr>
            </a:pPr>
            <a:r>
              <a:t>The Network Assessment Challenge</a:t>
            </a:r>
          </a:p>
          <a:p>
            <a:pPr>
              <a:defRPr sz="1400">
                <a:solidFill>
                  <a:srgbClr val="6E6E73"/>
                </a:solidFill>
              </a:defRPr>
            </a:pPr>
            <a:r>
              <a:t>Traditional tools generate overwhelming raw output without context, evidence, or historical intelligence.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32918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27432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E6E73"/>
                </a:solidFill>
              </a:defRPr>
            </a:pPr>
            <a:r>
              <a:t>01</a:t>
            </a:r>
          </a:p>
          <a:p>
            <a:pPr>
              <a:spcBef>
                <a:spcPts val="1400"/>
              </a:spcBef>
              <a:defRPr sz="1600" b="1">
                <a:solidFill>
                  <a:srgbClr val="1D1D1F"/>
                </a:solidFill>
              </a:defRPr>
            </a:pPr>
            <a:r>
              <a:t>Raw Scanner Output</a:t>
            </a:r>
          </a:p>
          <a:p>
            <a:pPr>
              <a:spcBef>
                <a:spcPts val="1000"/>
              </a:spcBef>
              <a:defRPr sz="1200">
                <a:solidFill>
                  <a:srgbClr val="6E6E73"/>
                </a:solidFill>
              </a:defRPr>
            </a:pPr>
            <a:r>
              <a:t>Terminal tools dump thousands of lines of raw text. Security operators must manually parse ports and look up service banners.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011680"/>
            <a:ext cx="32918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60" y="2286000"/>
            <a:ext cx="27432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E6E73"/>
                </a:solidFill>
              </a:defRPr>
            </a:pPr>
            <a:r>
              <a:t>02</a:t>
            </a:r>
          </a:p>
          <a:p>
            <a:pPr>
              <a:spcBef>
                <a:spcPts val="1400"/>
              </a:spcBef>
              <a:defRPr sz="1600" b="1">
                <a:solidFill>
                  <a:srgbClr val="1D1D1F"/>
                </a:solidFill>
              </a:defRPr>
            </a:pPr>
            <a:r>
              <a:t>Unverifiable Claims</a:t>
            </a:r>
          </a:p>
          <a:p>
            <a:pPr>
              <a:spcBef>
                <a:spcPts val="1000"/>
              </a:spcBef>
              <a:defRPr sz="1200">
                <a:solidFill>
                  <a:srgbClr val="6E6E73"/>
                </a:solidFill>
              </a:defRPr>
            </a:pPr>
            <a:r>
              <a:t>Conventional tools report speculative vulnerabilities without providing auditable evidence of how or why the finding was derived.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011680"/>
            <a:ext cx="32918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9" y="2286000"/>
            <a:ext cx="27432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2318"/>
                </a:solidFill>
              </a:defRPr>
            </a:pPr>
            <a:r>
              <a:t>03</a:t>
            </a:r>
          </a:p>
          <a:p>
            <a:pPr>
              <a:spcBef>
                <a:spcPts val="1400"/>
              </a:spcBef>
              <a:defRPr sz="1600" b="1">
                <a:solidFill>
                  <a:srgbClr val="1D1D1F"/>
                </a:solidFill>
              </a:defRPr>
            </a:pPr>
            <a:r>
              <a:t>Zero Historical Context</a:t>
            </a:r>
          </a:p>
          <a:p>
            <a:pPr>
              <a:spcBef>
                <a:spcPts val="1000"/>
              </a:spcBef>
              <a:defRPr sz="1200">
                <a:solidFill>
                  <a:srgbClr val="6E6E73"/>
                </a:solidFill>
              </a:defRPr>
            </a:pPr>
            <a:r>
              <a:t>Point-in-time scans do not track network drift. Identifying newly exposed ports or resolved risks requires tedious manual diffs.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D1D1F"/>
                </a:solidFill>
              </a:defRPr>
            </a:pPr>
            <a:r>
              <a:t>System Objectives &amp; Engineering Scope</a:t>
            </a:r>
          </a:p>
          <a:p>
            <a:pPr>
              <a:defRPr sz="1400">
                <a:solidFill>
                  <a:srgbClr val="6E6E73"/>
                </a:solidFill>
              </a:defRPr>
            </a:pPr>
            <a:r>
              <a:t>Designing a non-destructive, evidence-driven network assessment architecture.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5029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4884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1F"/>
                </a:solidFill>
              </a:defRPr>
            </a:pPr>
            <a:r>
              <a:t>Multi-Vector Discovery</a:t>
            </a:r>
          </a:p>
          <a:p>
            <a:pPr>
              <a:defRPr sz="1050">
                <a:solidFill>
                  <a:srgbClr val="6E6E73"/>
                </a:solidFill>
              </a:defRPr>
            </a:pPr>
            <a:r>
              <a:t>Verify alive systems via ICMP Echo, TCP SYN connects, and reverse DNS across subnets without hanging.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029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14884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1F"/>
                </a:solidFill>
              </a:defRPr>
            </a:pPr>
            <a:r>
              <a:t>Asynchronous Enumeration</a:t>
            </a:r>
          </a:p>
          <a:p>
            <a:pPr>
              <a:defRPr sz="1050">
                <a:solidFill>
                  <a:srgbClr val="6E6E73"/>
                </a:solidFill>
              </a:defRPr>
            </a:pPr>
            <a:r>
              <a:t>Conduct high-speed port scanning with controlled concurrency pools and adaptive timeout handling.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383280"/>
            <a:ext cx="5029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1F"/>
                </a:solidFill>
              </a:defRPr>
            </a:pPr>
            <a:r>
              <a:t>Deep Service Fingerprinting</a:t>
            </a:r>
          </a:p>
          <a:p>
            <a:pPr>
              <a:defRPr sz="1050">
                <a:solidFill>
                  <a:srgbClr val="6E6E73"/>
                </a:solidFill>
              </a:defRPr>
            </a:pPr>
            <a:r>
              <a:t>Interrogate services using live protocol handshakes (HTTP, TLS certificates, SSH banners, MySQL).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383280"/>
            <a:ext cx="5029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52044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1F"/>
                </a:solidFill>
              </a:defRPr>
            </a:pPr>
            <a:r>
              <a:t>Evidence-Based Findings</a:t>
            </a:r>
          </a:p>
          <a:p>
            <a:pPr>
              <a:defRPr sz="1050">
                <a:solidFill>
                  <a:srgbClr val="6E6E73"/>
                </a:solidFill>
              </a:defRPr>
            </a:pPr>
            <a:r>
              <a:t>Classify exposures strictly supported by observed data into Informational, Low, Medium, and High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754880"/>
            <a:ext cx="5029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89204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1F"/>
                </a:solidFill>
              </a:defRPr>
            </a:pPr>
            <a:r>
              <a:t>Historical Drift Detection</a:t>
            </a:r>
          </a:p>
          <a:p>
            <a:pPr>
              <a:defRPr sz="1050">
                <a:solidFill>
                  <a:srgbClr val="6E6E73"/>
                </a:solidFill>
              </a:defRPr>
            </a:pPr>
            <a:r>
              <a:t>Track differential changes (+/- hosts, +/- open ports, version upgrades) across consecutive assessments.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754880"/>
            <a:ext cx="5029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892040"/>
            <a:ext cx="4663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D1D1F"/>
                </a:solidFill>
              </a:defRPr>
            </a:pPr>
            <a:r>
              <a:t>Automated Executive Reporting</a:t>
            </a:r>
          </a:p>
          <a:p>
            <a:pPr>
              <a:defRPr sz="1050">
                <a:solidFill>
                  <a:srgbClr val="6E6E73"/>
                </a:solidFill>
              </a:defRPr>
            </a:pPr>
            <a:r>
              <a:t>Generate single-source-of-truth DOCX reports and structured exports instantly with zero placeholders.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D1D1F"/>
                </a:solidFill>
              </a:defRPr>
            </a:pPr>
            <a:r>
              <a:t>ShieldScan Product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32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D1D1F"/>
                </a:solidFill>
              </a:defRPr>
            </a:pPr>
            <a:r>
              <a:t>Live Network Assessment: 127.0.0.1</a:t>
            </a:r>
          </a:p>
          <a:p>
            <a:pPr>
              <a:defRPr sz="1400">
                <a:solidFill>
                  <a:srgbClr val="6E6E73"/>
                </a:solidFill>
              </a:defRPr>
            </a:pPr>
            <a:r>
              <a:t>Assessment completed in 1.25s under the 'Standard Assessment' profile.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2057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D1D1F"/>
                </a:solidFill>
              </a:defRPr>
            </a:pPr>
            <a:r>
              <a:t>1</a:t>
            </a:r>
          </a:p>
          <a:p>
            <a:pPr>
              <a:defRPr sz="1300" b="1">
                <a:solidFill>
                  <a:srgbClr val="1D1D1F"/>
                </a:solidFill>
              </a:defRPr>
            </a:pPr>
            <a:r>
              <a:t>Hosts Discovered</a:t>
            </a:r>
          </a:p>
          <a:p>
            <a:pPr>
              <a:defRPr sz="950">
                <a:solidFill>
                  <a:srgbClr val="6E6E73"/>
                </a:solidFill>
              </a:defRPr>
            </a:pPr>
            <a:r>
              <a:t>Out of 1 scope targets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01168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49040" y="2194560"/>
            <a:ext cx="2057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D1D1F"/>
                </a:solidFill>
              </a:defRPr>
            </a:pPr>
            <a:r>
              <a:t>1</a:t>
            </a:r>
          </a:p>
          <a:p>
            <a:pPr>
              <a:defRPr sz="1300" b="1">
                <a:solidFill>
                  <a:srgbClr val="1D1D1F"/>
                </a:solidFill>
              </a:defRPr>
            </a:pPr>
            <a:r>
              <a:t>Open Ports</a:t>
            </a:r>
          </a:p>
          <a:p>
            <a:pPr>
              <a:defRPr sz="950">
                <a:solidFill>
                  <a:srgbClr val="6E6E73"/>
                </a:solidFill>
              </a:defRPr>
            </a:pPr>
            <a:r>
              <a:t>0 filtered / firewalled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2057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D1D1F"/>
                </a:solidFill>
              </a:defRPr>
            </a:pPr>
            <a:r>
              <a:t>1</a:t>
            </a:r>
          </a:p>
          <a:p>
            <a:pPr>
              <a:defRPr sz="1300" b="1">
                <a:solidFill>
                  <a:srgbClr val="1D1D1F"/>
                </a:solidFill>
              </a:defRPr>
            </a:pPr>
            <a:r>
              <a:t>Services Identified</a:t>
            </a:r>
          </a:p>
          <a:p>
            <a:pPr>
              <a:defRPr sz="950">
                <a:solidFill>
                  <a:srgbClr val="6E6E73"/>
                </a:solidFill>
              </a:defRPr>
            </a:pPr>
            <a:r>
              <a:t>Fingerprinted via banners &amp; TLS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2011680"/>
            <a:ext cx="24231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194560"/>
            <a:ext cx="2057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B42318"/>
                </a:solidFill>
              </a:defRPr>
            </a:pPr>
            <a:r>
              <a:t>1</a:t>
            </a:r>
          </a:p>
          <a:p>
            <a:pPr>
              <a:defRPr sz="1300" b="1">
                <a:solidFill>
                  <a:srgbClr val="1D1D1F"/>
                </a:solidFill>
              </a:defRPr>
            </a:pPr>
            <a:r>
              <a:t>Security Findings</a:t>
            </a:r>
          </a:p>
          <a:p>
            <a:pPr>
              <a:defRPr sz="950">
                <a:solidFill>
                  <a:srgbClr val="6E6E73"/>
                </a:solidFill>
              </a:defRPr>
            </a:pPr>
            <a:r>
              <a:t>High: 0 | Med: 0</a:t>
            </a:r>
          </a:p>
        </p:txBody>
      </p:sp>
      <p:pic>
        <p:nvPicPr>
          <p:cNvPr id="11" name="Picture 10" descr="01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297680"/>
            <a:ext cx="5056632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14400" y="42976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47548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D1D1F"/>
                </a:solidFill>
              </a:defRPr>
            </a:pPr>
            <a:r>
              <a:t>Key Observational Intelligence</a:t>
            </a:r>
          </a:p>
          <a:p>
            <a:pPr>
              <a:defRPr sz="1100">
                <a:solidFill>
                  <a:srgbClr val="1D1D1F"/>
                </a:solidFill>
              </a:defRPr>
            </a:pPr>
            <a:r>
              <a:t>• [INFORMATIONAL] Active Service Verification: HTTP (127.0.0.1:80) — Evidence: HTTP 200 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D1D1F"/>
                </a:solidFill>
              </a:defRPr>
            </a:pPr>
            <a:r>
              <a:t>Why ShieldScan? Complete Network Intelligence</a:t>
            </a:r>
          </a:p>
          <a:p>
            <a:pPr>
              <a:defRPr sz="1400">
                <a:solidFill>
                  <a:srgbClr val="6E6E73"/>
                </a:solidFill>
              </a:defRPr>
            </a:pPr>
            <a:r>
              <a:t>SCAN + VISUALIZE + ANALYZE + COMPARE + REPORT in one unified product experience.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2318"/>
                </a:solidFill>
              </a:defRPr>
            </a:pPr>
            <a:r>
              <a:t>Evidence-First Integrity</a:t>
            </a:r>
          </a:p>
          <a:p>
            <a:pPr>
              <a:spcBef>
                <a:spcPts val="800"/>
              </a:spcBef>
              <a:defRPr sz="1100">
                <a:solidFill>
                  <a:srgbClr val="6E6E73"/>
                </a:solidFill>
              </a:defRPr>
            </a:pPr>
            <a:r>
              <a:t>Never manufactures findings or CVE matches. Every reported risk is traceable directly to an observed raw banner, TLS handshake, or protocol packet.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219456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D1D1F"/>
                </a:solidFill>
              </a:defRPr>
            </a:pPr>
            <a:r>
              <a:t>Integrated Visual Dashboard</a:t>
            </a:r>
          </a:p>
          <a:p>
            <a:pPr>
              <a:spcBef>
                <a:spcPts val="800"/>
              </a:spcBef>
              <a:defRPr sz="1100">
                <a:solidFill>
                  <a:srgbClr val="6E6E73"/>
                </a:solidFill>
              </a:defRPr>
            </a:pPr>
            <a:r>
              <a:t>Replaces cluttered CLI flags and hacker aesthetics with an Apple-inspired clean UI designed for clarity, progressive depth, and instant comprehension.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29768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D1D1F"/>
                </a:solidFill>
              </a:defRPr>
            </a:pPr>
            <a:r>
              <a:t>Automated Change Detection</a:t>
            </a:r>
          </a:p>
          <a:p>
            <a:pPr>
              <a:spcBef>
                <a:spcPts val="800"/>
              </a:spcBef>
              <a:defRPr sz="1100">
                <a:solidFill>
                  <a:srgbClr val="6E6E73"/>
                </a:solidFill>
              </a:defRPr>
            </a:pPr>
            <a:r>
              <a:t>Instantly diffs consecutive network scans to highlight newly opened ports, removed hosts, and version migrations across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0292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297680"/>
            <a:ext cx="44805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D1D1F"/>
                </a:solidFill>
              </a:defRPr>
            </a:pPr>
            <a:r>
              <a:t>One-Click Executive Reporting</a:t>
            </a:r>
          </a:p>
          <a:p>
            <a:pPr>
              <a:spcBef>
                <a:spcPts val="800"/>
              </a:spcBef>
              <a:defRPr sz="1100">
                <a:solidFill>
                  <a:srgbClr val="6E6E73"/>
                </a:solidFill>
              </a:defRPr>
            </a:pPr>
            <a:r>
              <a:t>Derives professional Word (.docx) reports and slide presentations directly from canonical scan data with zero manual transposition.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D1D1F"/>
                </a:solidFill>
              </a:defRPr>
            </a:pPr>
            <a:r>
              <a:t>From Raw Network Data to Understanding</a:t>
            </a:r>
          </a:p>
          <a:p>
            <a:pPr>
              <a:defRPr sz="1400">
                <a:solidFill>
                  <a:srgbClr val="6E6E73"/>
                </a:solidFill>
              </a:defRPr>
            </a:pPr>
            <a:r>
              <a:t>Empowering defensive engineers with accessible network clarity and reliable evidence.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50292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4480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D1D1F"/>
                </a:solidFill>
              </a:defRPr>
            </a:pPr>
            <a:r>
              <a:t>Project Summary</a:t>
            </a:r>
          </a:p>
          <a:p>
            <a:pPr>
              <a:spcBef>
                <a:spcPts val="800"/>
              </a:spcBef>
              <a:defRPr sz="1150">
                <a:solidFill>
                  <a:srgbClr val="1D1D1F"/>
                </a:solidFill>
              </a:defRPr>
            </a:pPr>
            <a:r>
              <a:t>✓  Transformed port scanning into a comprehensive network visibility platform.</a:t>
            </a:r>
          </a:p>
          <a:p>
            <a:pPr>
              <a:spcBef>
                <a:spcPts val="800"/>
              </a:spcBef>
              <a:defRPr sz="1150">
                <a:solidFill>
                  <a:srgbClr val="1D1D1F"/>
                </a:solidFill>
              </a:defRPr>
            </a:pPr>
            <a:r>
              <a:t>✓  Strictly enforced Apple-inspired light engineering UI (zero dark/neon hacker styling).</a:t>
            </a:r>
          </a:p>
          <a:p>
            <a:pPr>
              <a:spcBef>
                <a:spcPts val="800"/>
              </a:spcBef>
              <a:defRPr sz="1150">
                <a:solidFill>
                  <a:srgbClr val="1D1D1F"/>
                </a:solidFill>
              </a:defRPr>
            </a:pPr>
            <a:r>
              <a:t>✓  Established single-source-of-truth canonical ScanResult model for all reports and UI.</a:t>
            </a:r>
          </a:p>
          <a:p>
            <a:pPr>
              <a:spcBef>
                <a:spcPts val="800"/>
              </a:spcBef>
              <a:defRPr sz="1150">
                <a:solidFill>
                  <a:srgbClr val="1D1D1F"/>
                </a:solidFill>
              </a:defRPr>
            </a:pPr>
            <a:r>
              <a:t>✓  Demonstrated defensive network assessment without offensive exploitation.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0292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2286000"/>
            <a:ext cx="448056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2318"/>
                </a:solidFill>
              </a:defRPr>
            </a:pPr>
            <a:r>
              <a:t>Future Roadmap</a:t>
            </a:r>
          </a:p>
          <a:p>
            <a:pPr>
              <a:spcBef>
                <a:spcPts val="800"/>
              </a:spcBef>
              <a:defRPr sz="1150">
                <a:solidFill>
                  <a:srgbClr val="6E6E73"/>
                </a:solidFill>
              </a:defRPr>
            </a:pPr>
            <a:r>
              <a:t>→  Heuristic OS Fingerprinting: TCP/IP stack window size and TTL analysis.</a:t>
            </a:r>
          </a:p>
          <a:p>
            <a:pPr>
              <a:spcBef>
                <a:spcPts val="800"/>
              </a:spcBef>
              <a:defRPr sz="1150">
                <a:solidFill>
                  <a:srgbClr val="6E6E73"/>
                </a:solidFill>
              </a:defRPr>
            </a:pPr>
            <a:r>
              <a:t>→  Interactive Topology Graph: Force-directed visual mapping of subnet relationships.</a:t>
            </a:r>
          </a:p>
          <a:p>
            <a:pPr>
              <a:spcBef>
                <a:spcPts val="800"/>
              </a:spcBef>
              <a:defRPr sz="1150">
                <a:solidFill>
                  <a:srgbClr val="6E6E73"/>
                </a:solidFill>
              </a:defRPr>
            </a:pPr>
            <a:r>
              <a:t>→  Continuous Distributed Agent: Background daemon monitoring for enterprise networks.</a:t>
            </a:r>
          </a:p>
          <a:p>
            <a:pPr>
              <a:spcBef>
                <a:spcPts val="800"/>
              </a:spcBef>
              <a:defRPr sz="1150">
                <a:solidFill>
                  <a:srgbClr val="6E6E73"/>
                </a:solidFill>
              </a:defRPr>
            </a:pPr>
            <a:r>
              <a:t>→  Expanded Protocol Probing: Native SMB2/3 tree connect and LDAP schema enumeration.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